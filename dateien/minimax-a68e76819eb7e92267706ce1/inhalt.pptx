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kompassnrw/wasser-dach-eindringung-reagieren/" TargetMode="External"/><Relationship Id="rId3" Type="http://schemas.openxmlformats.org/officeDocument/2006/relationships/hyperlink" Target="https://holzundhaus.github.io/dachkompassnrw/dateien/minimax-a68e76819eb7e92267706ce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 im Dachgeschoss: Richtig reagieren bei Wassereintritt durch das Dach · Erklärende Präsentation</a:t>
            </a:r>
          </a:p>
        </p:txBody>
      </p:sp>
      <p:sp>
        <p:nvSpPr>
          <p:cNvPr id="3" name="Content Placeholder 2"/>
          <p:cNvSpPr>
            <a:spLocks noGrp="1"/>
          </p:cNvSpPr>
          <p:nvPr>
            <p:ph idx="1"/>
          </p:nvPr>
        </p:nvSpPr>
        <p:spPr/>
        <p:txBody>
          <a:bodyPr/>
          <a:lstStyle/>
          <a:p>
            <a:r>
              <a:t>Überblick: Wenn Wasser durch das Dach in das Gebäude eindringt, zählt ein geordneter erster Schritt mehr als eine schnelle Vermutung. Dieser Ratgeber erklärt, wie Betroffene den Schaden begrenzen, dokumentieren und einen Fachbetrieb gezielt beauftragen können. Er greift die Hinweise zum Wassereintritt im Dachgeschoss auf und führt sie zu einer konkreten Checkliste für die eigene Situation.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Erste Reaktion: Lage und Risiken erkennen</a:t>
            </a:r>
          </a:p>
        </p:txBody>
      </p:sp>
      <p:sp>
        <p:nvSpPr>
          <p:cNvPr id="3" name="Content Placeholder 2"/>
          <p:cNvSpPr>
            <a:spLocks noGrp="1"/>
          </p:cNvSpPr>
          <p:nvPr>
            <p:ph idx="1"/>
          </p:nvPr>
        </p:nvSpPr>
        <p:spPr/>
        <p:txBody>
          <a:bodyPr/>
          <a:lstStyle/>
          <a:p>
            <a:pPr>
              <a:defRPr sz="1800"/>
            </a:pPr>
            <a:r>
              <a:t>Beginnen Sie mit einem Überblick über den betroffenen Bereich: Wo tritt das Wasser aus? Handelt es sich um eine klare Stelle, breitet sich die Nässe über die Decke aus oder läuft sie an Wänden herab? Notieren Sie Zeitpunkt, Witterung und Dauer des Ereignisses. Ein kurzer Eintritt nach starkem Regen lässt sich anders einordnen als eine dauerhaft feuchte Stelle, die auch bei schwacher Belastung nicht abtrocknet. Wassereintritt durch das Dach wird im weiterführenden Ratgeber ausführlich beschrieben.</a:t>
            </a:r>
          </a:p>
          <a:p>
            <a:pPr>
              <a:defRPr sz="1800"/>
            </a:pPr>
          </a:p>
          <a:p>
            <a:pPr>
              <a:defRPr sz="1800"/>
            </a:pPr>
            <a:r>
              <a:t>Bringen Sie zuerst Menschen in Sicherheit. Schalten Sie Strom in betroffenen Räumen ab, sobald Wasser in die Nähe von Leitungen, Steckdosen oder 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Erste Reaktion: Lage und Risiken erkennen</a:t>
            </a:r>
          </a:p>
        </p:txBody>
      </p:sp>
      <p:sp>
        <p:nvSpPr>
          <p:cNvPr id="3" name="Content Placeholder 2"/>
          <p:cNvSpPr>
            <a:spLocks noGrp="1"/>
          </p:cNvSpPr>
          <p:nvPr>
            <p:ph idx="1"/>
          </p:nvPr>
        </p:nvSpPr>
        <p:spPr/>
        <p:txBody>
          <a:bodyPr/>
          <a:lstStyle/>
          <a:p>
            <a:pPr>
              <a:defRPr sz="1800"/>
            </a:pPr>
            <a:r>
              <a:t>stallationen gelangt. Entfernen Sie Elektrogeräte, Möbel und wertvolle Gegenstände. Stellen Sie Auffanggefäße auf und nehmen Sie nachlaufendes Wasser regelmäßig auf. Saugfähige Bodenbeläge sollten hochgenommen oder unterlüftet werden. Diese Maßnahmen ersetzen keine fachliche Prüfung, können aber weitere Schäden begrenzen.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Schaden nachvollziehbar dokumentieren</a:t>
            </a:r>
          </a:p>
        </p:txBody>
      </p:sp>
      <p:sp>
        <p:nvSpPr>
          <p:cNvPr id="3" name="Content Placeholder 2"/>
          <p:cNvSpPr>
            <a:spLocks noGrp="1"/>
          </p:cNvSpPr>
          <p:nvPr>
            <p:ph idx="1"/>
          </p:nvPr>
        </p:nvSpPr>
        <p:spPr/>
        <p:txBody>
          <a:bodyPr/>
          <a:lstStyle/>
          <a:p>
            <a:pPr>
              <a:defRPr sz="1800"/>
            </a:pPr>
            <a:r>
              <a:t>Eine klare Dokumentation erleichtert die Abstimmung mit dem Fachbetrieb und gegebenenfalls mit dem Versicherer. Halten Sie fest, wann das Wasser eingetreten ist, welche Wetterbedingungen herrschten, wo der Schaden sichtbar wurde und wie viel Wasser nachlief. Fotografieren Sie das Ausmaß ausschließlich aus sicherer Position, etwa vom Boden oder von einem trockenen Standort. Ergänzen Sie Informationen zu Dachform, Material und Baujahr sowie zu früheren Schäden an Deckung, Anschlüssen oder Dachflächenfenstern. Auch letzte Wartungs- oder Reinigungsarbeiten können für die erste Einschätzung wichtig sein.</a:t>
            </a:r>
          </a:p>
          <a:p>
            <a:pPr>
              <a:defRPr sz="1800"/>
            </a:pPr>
          </a:p>
          <a:p>
            <a:pPr>
              <a:defRPr sz="1800"/>
            </a:pPr>
            <a:r>
              <a:t>Beschreiben Sie außerdem, ob der Eintritt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Schaden nachvollziehbar dokumentieren</a:t>
            </a:r>
          </a:p>
        </p:txBody>
      </p:sp>
      <p:sp>
        <p:nvSpPr>
          <p:cNvPr id="3" name="Content Placeholder 2"/>
          <p:cNvSpPr>
            <a:spLocks noGrp="1"/>
          </p:cNvSpPr>
          <p:nvPr>
            <p:ph idx="1"/>
          </p:nvPr>
        </p:nvSpPr>
        <p:spPr/>
        <p:txBody>
          <a:bodyPr/>
          <a:lstStyle/>
          <a:p>
            <a:pPr>
              <a:defRPr sz="1800"/>
            </a:pPr>
            <a:r>
              <a:t>einmalig auftrat oder sich wiederholt. Bei einer Versicherung sollten Schäden zeitnah gemeldet und mit Fotos sowie Notizen belegt werden. Reparaturen zur Schadensbegrenzung sollten dokumentiert und, wenn möglich, vorab abgestimmt werden. Welche Kosten übernommen werden, hängt vom konkreten Vertrag und festgestellten Schadensbild 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Fachbetrieb mit aussagekräftiger Anfrage beauftragen</a:t>
            </a:r>
          </a:p>
        </p:txBody>
      </p:sp>
      <p:sp>
        <p:nvSpPr>
          <p:cNvPr id="3" name="Content Placeholder 2"/>
          <p:cNvSpPr>
            <a:spLocks noGrp="1"/>
          </p:cNvSpPr>
          <p:nvPr>
            <p:ph idx="1"/>
          </p:nvPr>
        </p:nvSpPr>
        <p:spPr/>
        <p:txBody>
          <a:bodyPr/>
          <a:lstStyle/>
          <a:p>
            <a:pPr>
              <a:defRPr sz="1800"/>
            </a:pPr>
            <a:r>
              <a:t>Die Ursachenprüfung gehört in fachliche Hände. Bei der Anfrage zur Dachentwässerung sollten Sie Dachform, vorhandene Ableitung, beobachtete Probleme, früherer Arbeiten am Dach, Zugangsmöglichkeiten und Projektort knapp darstellen. Ein Dachdeckereibetrieb kann prüfen, ob Deckung, Anschlüsse, Dachflächenfenster oder die Wasserführung betroffen sind. Wichtig ist dabei der Blick auf das Gesamtsystem: Dachfläche, Rinnen, Abläufe und Fallrohre wirken zusammen. Wiederkehrender Überlauf sollte deshalb nicht allein an der sichtbar betroffenen Stelle untersucht werden.</a:t>
            </a:r>
          </a:p>
          <a:p>
            <a:pPr>
              <a:defRPr sz="1800"/>
            </a:pPr>
          </a:p>
          <a:p>
            <a:pPr>
              <a:defRPr sz="1800"/>
            </a:pPr>
            <a:r>
              <a:t>Bitten Sie um eine schriftliche Leistungsbeschreibung, in der Vorprüfung, Instandse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Fachbetrieb mit aussagekräftiger Anfrage beauftragen</a:t>
            </a:r>
          </a:p>
        </p:txBody>
      </p:sp>
      <p:sp>
        <p:nvSpPr>
          <p:cNvPr id="3" name="Content Placeholder 2"/>
          <p:cNvSpPr>
            <a:spLocks noGrp="1"/>
          </p:cNvSpPr>
          <p:nvPr>
            <p:ph idx="1"/>
          </p:nvPr>
        </p:nvSpPr>
        <p:spPr/>
        <p:txBody>
          <a:bodyPr/>
          <a:lstStyle/>
          <a:p>
            <a:pPr>
              <a:defRPr sz="1800"/>
            </a:pPr>
            <a:r>
              <a:t>tzung und mögliche Zusatzarbeiten getrennt ausgewiesen sind. Auch Reinigung, Reparatur und Beschichtung sollten als einzelne Positionen erkennbar bleiben, damit der Leistungsumfang nachvollziehbar ist.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 der Instandsetzung: Kontrolle und langfristige Planung</a:t>
            </a:r>
          </a:p>
        </p:txBody>
      </p:sp>
      <p:sp>
        <p:nvSpPr>
          <p:cNvPr id="3" name="Content Placeholder 2"/>
          <p:cNvSpPr>
            <a:spLocks noGrp="1"/>
          </p:cNvSpPr>
          <p:nvPr>
            <p:ph idx="1"/>
          </p:nvPr>
        </p:nvSpPr>
        <p:spPr/>
        <p:txBody>
          <a:bodyPr/>
          <a:lstStyle/>
          <a:p>
            <a:pPr>
              <a:defRPr sz="1800"/>
            </a:pPr>
            <a:r>
              <a:t>Nach einer Reparatur sollte nicht nur die sichtbare Stelle, sondern die vollständige Ursache im Blick bleiben. Erreichbare Abläufe, ein kontrollierbarer Wartungszugang und eine intakte Ableitung gehören in die Leistungsbeschreibung. Vereinbaren Sie nach der Arbeiten, wie der Bereich erneut geprüft und wie ein mögliches Wiederauftreten erkannt wird.</a:t>
            </a:r>
          </a:p>
          <a:p>
            <a:pPr>
              <a:defRPr sz="1800"/>
            </a:pPr>
          </a:p>
          <a:p>
            <a:pPr>
              <a:defRPr sz="1800"/>
            </a:pPr>
            <a:r>
              <a:t>Beachten Sie außerdem Veränderungen am Dachaufbau, neue Dachflächenfenster oder eine spätere Begrünung. Solche Eingriffe können die Wasserführung beeinflussen. Wenn eine Fehlstelle erneut auftritt, dokumentieren Sie Zeitpunkt, Witterung, betroffene Bereiche und mögliche Veränderungen seit dem letz</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 der Instandsetzung: Kontrolle und langfristige Planung</a:t>
            </a:r>
          </a:p>
        </p:txBody>
      </p:sp>
      <p:sp>
        <p:nvSpPr>
          <p:cNvPr id="3" name="Content Placeholder 2"/>
          <p:cNvSpPr>
            <a:spLocks noGrp="1"/>
          </p:cNvSpPr>
          <p:nvPr>
            <p:ph idx="1"/>
          </p:nvPr>
        </p:nvSpPr>
        <p:spPr/>
        <p:txBody>
          <a:bodyPr/>
          <a:lstStyle/>
          <a:p>
            <a:pPr>
              <a:defRPr sz="1800"/>
            </a:pPr>
            <a:r>
              <a:t>ten Termin. So lässt sich unterscheiden, ob die ursprüngliche Ursache nachhaltig behoben wurde oder weitere zusammenhängende Prüfungen erforderlich sind.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Wasser im Dachgeschoss: Richtig reagieren bei Wassereintritt durch das Dach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